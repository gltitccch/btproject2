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presenting KinTrace, a next-generation Android application designed to solve generational record fragmentation through interactive vector family trees, statutory kinship calculations, and real-time collaborative clan federation.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genealogy apps are either single-user silos or overly academic. KinTrace addresses three core pain points: scattered memories, legal confusion regarding civil degrees, and the technical challenge of merging two distinct family branches.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first launch, KinTrace prioritizes engagement and transparency. Users are greeted by a 3-slide Welcome Storybook, sign a clear Stewardship covenant, and receive interactive onboarding milestones via the Clan Quest HUD.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newly engineered Twin-Pod Executive Header shown in both Dark Emerald and Light Linen themes. The left pod handles identity, while the right pod docks quick tools, flowing cleanly into the 4-Generation Hero Analytics card.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Interactive Canvas is the crown jewel of KinTrace. It uses Android hardware-accelerated Custom Views to draw vector connecting lines, manage pinch-to-zoom gestures, and render color-coded relationship badges across an infinite virtual layout.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simple box-and-line trees, KinTrace supports standard Ahnentafel pedigree numbering. This ensures mathematical accuracy when tracking direct ancestors, avoiding loop recursion in complex intermarried lineages.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Bloodline Tracing Engine is grounded in real statutory law. By implementing Articles 963 to 966 of the Philippine Family Code, the app counts generation steps up to the common ancestor and down to the relative, presenting the exact legal civil degree.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KinTrace is not just a diagram; it's a digital archive. Every member has a rich profile containing biographical dates, historical hometowns, multimedia attachments, and oral history recordings preserved in cloud storage.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two cousins build separate trees, merging them is notoriously risky. KinTrace provides a 3-step Merge Wizard that identifies a shared bridge relative, resolves conflicting records, and synthesizes a master tree without touching the original backups.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is paramount. Here is the Privacy &amp; Access control center shown in both themes. Clan owners can toggle tree visibility, invite authorized relatives with specific roles, and mask birth dates or sensitive notes for living relatives.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KinTrace is also an educational platform. The KinAcademy features 10 comprehensive modules and a built-in genealogical lexicon, teaching family members how genealogy works, legal definitions of kinship, and oral history best practices.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system managers, the Admin Citadel provides real-time telemetry, broadcast announcement tools, and security controls. Admins can broadcast maintenance notices directly to all users' dashboards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Updates are seamless. KinTrace features an Over-The-Air update manager that detects new releases, downloads the patch with progress feedback, and prompts the user to install. Meanwhile, our reactive sync engine guarantees real-time multi-device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KinTrace connects digital agility with physical heirloom preservation. Relatives can export high-resolution vector PDF posters for clan reunion printouts, generate CSV files for legal documentation, or produce certified relationship reports.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design reflects the gravity of family heritage. KinTrace provides two carefully calibrated themes: Dark Emerald Heritage for high-craft executive elegance, and Light Linen for non-glare daytime outdoor viewing.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KinTrace is a fully realized, battle-tested heritage management system. It combines statutory legal math, custom vector canvas rendering, and modern collaborative engineering. I am now open for questions and live app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2926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3474720"/>
          </a:xfrm>
          <a:prstGeom prst="rect">
            <a:avLst/>
          </a:prstGeom>
          <a:noFill/>
        </p:spPr>
        <p:txBody>
          <a:bodyPr wrap="square">
            <a:spAutoFit/>
          </a:bodyPr>
          <a:lstStyle/>
          <a:p>
            <a:pPr>
              <a:spcAft>
                <a:spcPts val="1200"/>
              </a:spcAft>
              <a:defRPr sz="1200" b="1">
                <a:solidFill>
                  <a:srgbClr val="D4AF37"/>
                </a:solidFill>
              </a:defRPr>
            </a:pPr>
            <a:r>
              <a:t>OFFICIAL APPLICATION PRODUCT SHOWCASE • VERSION 1.2.0</a:t>
            </a:r>
          </a:p>
          <a:p>
            <a:pPr>
              <a:spcAft>
                <a:spcPts val="600"/>
              </a:spcAft>
              <a:defRPr sz="5400" b="1">
                <a:solidFill>
                  <a:srgbClr val="F0FDF4"/>
                </a:solidFill>
              </a:defRPr>
            </a:pPr>
            <a:r>
              <a:t>KinTrace</a:t>
            </a:r>
          </a:p>
          <a:p>
            <a:pPr>
              <a:spcAft>
                <a:spcPts val="1400"/>
              </a:spcAft>
              <a:defRPr sz="2200">
                <a:solidFill>
                  <a:srgbClr val="F5E495"/>
                </a:solidFill>
              </a:defRPr>
            </a:pPr>
            <a:r>
              <a:t>The Real-Time Collaborative Heritage &amp; Clan Preservation Ecosystem</a:t>
            </a:r>
          </a:p>
          <a:p>
            <a:pPr>
              <a:defRPr sz="1400">
                <a:solidFill>
                  <a:srgbClr val="8BA394"/>
                </a:solidFill>
              </a:defRPr>
            </a:pPr>
            <a:r>
              <a:t>An exhaustive walkthrough of features, mathematical kinship engines, vector tree navigation, and security architecture.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EXECUTIVE OVERVIEW</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The Genealogy Problem &amp; KinTrace Solution</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Transforming scattered family records into an authoritative, living digital heritage.</a:t>
            </a:r>
          </a:p>
        </p:txBody>
      </p:sp>
      <p:sp>
        <p:nvSpPr>
          <p:cNvPr id="6" name="Rounded Rectangle 5"/>
          <p:cNvSpPr/>
          <p:nvPr/>
        </p:nvSpPr>
        <p:spPr>
          <a:xfrm>
            <a:off x="731520" y="1645920"/>
            <a:ext cx="512064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4389120"/>
          </a:xfrm>
          <a:prstGeom prst="rect">
            <a:avLst/>
          </a:prstGeom>
          <a:noFill/>
        </p:spPr>
        <p:txBody>
          <a:bodyPr wrap="square">
            <a:spAutoFit/>
          </a:bodyPr>
          <a:lstStyle/>
          <a:p>
            <a:pPr>
              <a:spcAft>
                <a:spcPts val="600"/>
              </a:spcAft>
              <a:defRPr sz="1400" b="1">
                <a:solidFill>
                  <a:srgbClr val="F5E495"/>
                </a:solidFill>
              </a:defRPr>
            </a:pPr>
            <a:r>
              <a:t>The Three Genealogy Dilemmas</a:t>
            </a:r>
          </a:p>
          <a:p>
            <a:pPr>
              <a:spcAft>
                <a:spcPts val="500"/>
              </a:spcAft>
              <a:defRPr sz="1100">
                <a:solidFill>
                  <a:srgbClr val="F0FDF4"/>
                </a:solidFill>
              </a:defRPr>
            </a:pPr>
            <a:r>
              <a:t>•  Data Fragmentation: Family memories and lineages are scattered across unorganized chat groups, paper albums, and memory.</a:t>
            </a:r>
          </a:p>
          <a:p>
            <a:pPr>
              <a:spcAft>
                <a:spcPts val="500"/>
              </a:spcAft>
              <a:defRPr sz="1100">
                <a:solidFill>
                  <a:srgbClr val="F0FDF4"/>
                </a:solidFill>
              </a:defRPr>
            </a:pPr>
            <a:r>
              <a:t>•  Kinship Ambiguity: Users struggle to compute exact legal and biological degrees of relationship under Philippine civil law.</a:t>
            </a:r>
          </a:p>
          <a:p>
            <a:pPr>
              <a:spcAft>
                <a:spcPts val="500"/>
              </a:spcAft>
              <a:defRPr sz="1100">
                <a:solidFill>
                  <a:srgbClr val="F0FDF4"/>
                </a:solidFill>
              </a:defRPr>
            </a:pPr>
            <a:r>
              <a:t>•  Collaboration Friction: Multiple family branches work on isolated trees with zero automated branch-merging or conflict resolution.</a:t>
            </a:r>
          </a:p>
        </p:txBody>
      </p:sp>
      <p:sp>
        <p:nvSpPr>
          <p:cNvPr id="8" name="Rounded Rectangle 7"/>
          <p:cNvSpPr/>
          <p:nvPr/>
        </p:nvSpPr>
        <p:spPr>
          <a:xfrm>
            <a:off x="6217920" y="1645920"/>
            <a:ext cx="512064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754880" cy="4389120"/>
          </a:xfrm>
          <a:prstGeom prst="rect">
            <a:avLst/>
          </a:prstGeom>
          <a:noFill/>
        </p:spPr>
        <p:txBody>
          <a:bodyPr wrap="square">
            <a:spAutoFit/>
          </a:bodyPr>
          <a:lstStyle/>
          <a:p>
            <a:pPr>
              <a:spcAft>
                <a:spcPts val="600"/>
              </a:spcAft>
              <a:defRPr sz="1400" b="1">
                <a:solidFill>
                  <a:srgbClr val="F5E495"/>
                </a:solidFill>
              </a:defRPr>
            </a:pPr>
            <a:r>
              <a:t>The KinTrace Architectural Solution</a:t>
            </a:r>
          </a:p>
          <a:p>
            <a:pPr>
              <a:spcAft>
                <a:spcPts val="500"/>
              </a:spcAft>
              <a:defRPr sz="1100">
                <a:solidFill>
                  <a:srgbClr val="F0FDF4"/>
                </a:solidFill>
              </a:defRPr>
            </a:pPr>
            <a:r>
              <a:t>•  Single Source of Truth: Centralized Cloud Firestore repository with real-time reactive sync across all relatives simultaneously.</a:t>
            </a:r>
          </a:p>
          <a:p>
            <a:pPr>
              <a:spcAft>
                <a:spcPts val="500"/>
              </a:spcAft>
              <a:defRPr sz="1100">
                <a:solidFill>
                  <a:srgbClr val="F0FDF4"/>
                </a:solidFill>
              </a:defRPr>
            </a:pPr>
            <a:r>
              <a:t>•  Exact Statutory Math: Automated MRCA (Nearest Common Ancestor) &amp; Civil Kinship calculation (Family Code Art. 963–966).</a:t>
            </a:r>
          </a:p>
          <a:p>
            <a:pPr>
              <a:spcAft>
                <a:spcPts val="500"/>
              </a:spcAft>
              <a:defRPr sz="1100">
                <a:solidFill>
                  <a:srgbClr val="F0FDF4"/>
                </a:solidFill>
              </a:defRPr>
            </a:pPr>
            <a:r>
              <a:t>•  Clan Federation Engine: Non-destructive 3-step multi-tree branch stitching with granular role-based privacy (RBAC).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USER JOURNEY</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Seamless Onboarding &amp; Clan Initiation</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Guiding new and veteran relatives into the family ecosystem with zero friction.</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Onboarding Feature Walkthrough</a:t>
            </a:r>
          </a:p>
          <a:p>
            <a:pPr>
              <a:spcAft>
                <a:spcPts val="500"/>
              </a:spcAft>
              <a:defRPr sz="1100">
                <a:solidFill>
                  <a:srgbClr val="F0FDF4"/>
                </a:solidFill>
              </a:defRPr>
            </a:pPr>
            <a:r>
              <a:t>•  Dual-Mode Authentication: Secure email/password with verification safeguards, password recovery, and live credential validation.</a:t>
            </a:r>
          </a:p>
          <a:p>
            <a:pPr>
              <a:spcAft>
                <a:spcPts val="500"/>
              </a:spcAft>
              <a:defRPr sz="1100">
                <a:solidFill>
                  <a:srgbClr val="F0FDF4"/>
                </a:solidFill>
              </a:defRPr>
            </a:pPr>
            <a:r>
              <a:t>•  Terms of Clan Stewardship: Explicit 10-clause privacy covenant ensuring mutual family consent and data ethics.</a:t>
            </a:r>
          </a:p>
          <a:p>
            <a:pPr>
              <a:spcAft>
                <a:spcPts val="500"/>
              </a:spcAft>
              <a:defRPr sz="1100">
                <a:solidFill>
                  <a:srgbClr val="F0FDF4"/>
                </a:solidFill>
              </a:defRPr>
            </a:pPr>
            <a:r>
              <a:t>•  Interactive Welcome Storybook: 3-slide visual orientation introducing the canvas, bloodline tracing, and collaborative archiving.</a:t>
            </a:r>
          </a:p>
          <a:p>
            <a:pPr>
              <a:spcAft>
                <a:spcPts val="500"/>
              </a:spcAft>
              <a:defRPr sz="1100">
                <a:solidFill>
                  <a:srgbClr val="F0FDF4"/>
                </a:solidFill>
              </a:defRPr>
            </a:pPr>
            <a:r>
              <a:t>•  Clan Quest HUD: Gamified progress checklist on the home screen guiding users to complete key milestones.</a:t>
            </a:r>
          </a:p>
          <a:p>
            <a:pPr>
              <a:spcAft>
                <a:spcPts val="500"/>
              </a:spcAft>
              <a:defRPr sz="1100">
                <a:solidFill>
                  <a:srgbClr val="F0FDF4"/>
                </a:solidFill>
              </a:defRPr>
            </a:pPr>
            <a:r>
              <a:t>•  Instant Demo Vault: 1-click evaluation access with pre-configured personas (Clan Leader, Editor, Viewer).</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lide2_screen.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HOME DASHBOARD</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The Twin-Pod Executive Command Center</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High-craft floating micro-islands paired with comprehensive heritage analytics.</a:t>
            </a:r>
          </a:p>
        </p:txBody>
      </p:sp>
      <p:sp>
        <p:nvSpPr>
          <p:cNvPr id="6" name="Rounded Rectangle 5"/>
          <p:cNvSpPr/>
          <p:nvPr/>
        </p:nvSpPr>
        <p:spPr>
          <a:xfrm>
            <a:off x="731520" y="1645920"/>
            <a:ext cx="493776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572000" cy="4389120"/>
          </a:xfrm>
          <a:prstGeom prst="rect">
            <a:avLst/>
          </a:prstGeom>
          <a:noFill/>
        </p:spPr>
        <p:txBody>
          <a:bodyPr wrap="square">
            <a:spAutoFit/>
          </a:bodyPr>
          <a:lstStyle/>
          <a:p>
            <a:pPr>
              <a:spcAft>
                <a:spcPts val="600"/>
              </a:spcAft>
              <a:defRPr sz="1400" b="1">
                <a:solidFill>
                  <a:srgbClr val="F5E495"/>
                </a:solidFill>
              </a:defRPr>
            </a:pPr>
            <a:r>
              <a:t>Dashboard Architecture &amp; Components</a:t>
            </a:r>
          </a:p>
          <a:p>
            <a:pPr>
              <a:spcAft>
                <a:spcPts val="500"/>
              </a:spcAft>
              <a:defRPr sz="1100">
                <a:solidFill>
                  <a:srgbClr val="F0FDF4"/>
                </a:solidFill>
              </a:defRPr>
            </a:pPr>
            <a:r>
              <a:t>•  Twin-Pod Floating Islands: Ultra-slim 44dp split-capsule header separating User Identity from the Utility Dock.</a:t>
            </a:r>
          </a:p>
          <a:p>
            <a:pPr>
              <a:spcAft>
                <a:spcPts val="500"/>
              </a:spcAft>
              <a:defRPr sz="1100">
                <a:solidFill>
                  <a:srgbClr val="F0FDF4"/>
                </a:solidFill>
              </a:defRPr>
            </a:pPr>
            <a:r>
              <a:t>•  Live Presence Beacon: Real-time green cloud sync indicator reflecting active Firestore handshake status.</a:t>
            </a:r>
          </a:p>
          <a:p>
            <a:pPr>
              <a:spcAft>
                <a:spcPts val="500"/>
              </a:spcAft>
              <a:defRPr sz="1100">
                <a:solidFill>
                  <a:srgbClr val="F0FDF4"/>
                </a:solidFill>
              </a:defRPr>
            </a:pPr>
            <a:r>
              <a:t>•  Heritage Hero Analytics Card: Prominently highlights total documented generations ('4 Generations') and real-time health score (92%).</a:t>
            </a:r>
          </a:p>
          <a:p>
            <a:pPr>
              <a:spcAft>
                <a:spcPts val="500"/>
              </a:spcAft>
              <a:defRPr sz="1100">
                <a:solidFill>
                  <a:srgbClr val="F0FDF4"/>
                </a:solidFill>
              </a:defRPr>
            </a:pPr>
            <a:r>
              <a:t>•  4-Stat Real-Time Counters: Dynamic counts of Members, Branches, Generations, and Archival Records.</a:t>
            </a:r>
          </a:p>
          <a:p>
            <a:pPr>
              <a:spcAft>
                <a:spcPts val="500"/>
              </a:spcAft>
              <a:defRPr sz="1100">
                <a:solidFill>
                  <a:srgbClr val="F0FDF4"/>
                </a:solidFill>
              </a:defRPr>
            </a:pPr>
            <a:r>
              <a:t>•  One-Touch Theme Switcher: Instant seamless transition between Dark Emerald and Light Linen modes without reload.</a:t>
            </a:r>
          </a:p>
        </p:txBody>
      </p:sp>
      <p:sp>
        <p:nvSpPr>
          <p:cNvPr id="8" name="Rounded Rectangle 7"/>
          <p:cNvSpPr/>
          <p:nvPr/>
        </p:nvSpPr>
        <p:spPr>
          <a:xfrm>
            <a:off x="6108192" y="1170432"/>
            <a:ext cx="2523744" cy="534009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ve_twin_pod_dark_home.png"/>
          <p:cNvPicPr>
            <a:picLocks noChangeAspect="1"/>
          </p:cNvPicPr>
          <p:nvPr/>
        </p:nvPicPr>
        <p:blipFill>
          <a:blip r:embed="rId2"/>
          <a:stretch>
            <a:fillRect/>
          </a:stretch>
        </p:blipFill>
        <p:spPr>
          <a:xfrm>
            <a:off x="6217920" y="1280160"/>
            <a:ext cx="2304288" cy="5120640"/>
          </a:xfrm>
          <a:prstGeom prst="rect">
            <a:avLst/>
          </a:prstGeom>
        </p:spPr>
      </p:pic>
      <p:sp>
        <p:nvSpPr>
          <p:cNvPr id="10" name="Rounded Rectangle 9"/>
          <p:cNvSpPr/>
          <p:nvPr/>
        </p:nvSpPr>
        <p:spPr>
          <a:xfrm>
            <a:off x="8778240" y="1170432"/>
            <a:ext cx="2523744" cy="534009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ve_twin_pod_nobanner.png"/>
          <p:cNvPicPr>
            <a:picLocks noChangeAspect="1"/>
          </p:cNvPicPr>
          <p:nvPr/>
        </p:nvPicPr>
        <p:blipFill>
          <a:blip r:embed="rId3"/>
          <a:stretch>
            <a:fillRect/>
          </a:stretch>
        </p:blipFill>
        <p:spPr>
          <a:xfrm>
            <a:off x="8887968" y="1280160"/>
            <a:ext cx="2304288" cy="5120640"/>
          </a:xfrm>
          <a:prstGeom prst="rect">
            <a:avLst/>
          </a:prstGeom>
        </p:spPr>
      </p:pic>
      <p:sp>
        <p:nvSpPr>
          <p:cNvPr id="12" name="TextBox 11"/>
          <p:cNvSpPr txBox="1"/>
          <p:nvPr/>
        </p:nvSpPr>
        <p:spPr>
          <a:xfrm>
            <a:off x="6126480" y="868680"/>
            <a:ext cx="2487168" cy="320040"/>
          </a:xfrm>
          <a:prstGeom prst="rect">
            <a:avLst/>
          </a:prstGeom>
          <a:noFill/>
        </p:spPr>
        <p:txBody>
          <a:bodyPr wrap="none">
            <a:spAutoFit/>
          </a:bodyPr>
          <a:lstStyle/>
          <a:p>
            <a:pPr algn="ctr">
              <a:defRPr sz="950" b="1">
                <a:solidFill>
                  <a:srgbClr val="F5E495"/>
                </a:solidFill>
              </a:defRPr>
            </a:pPr>
            <a:r>
              <a:t>DARK EMERALD MODE</a:t>
            </a:r>
          </a:p>
        </p:txBody>
      </p:sp>
      <p:sp>
        <p:nvSpPr>
          <p:cNvPr id="13" name="TextBox 12"/>
          <p:cNvSpPr txBox="1"/>
          <p:nvPr/>
        </p:nvSpPr>
        <p:spPr>
          <a:xfrm>
            <a:off x="8796528" y="868680"/>
            <a:ext cx="2487168" cy="320040"/>
          </a:xfrm>
          <a:prstGeom prst="rect">
            <a:avLst/>
          </a:prstGeom>
          <a:noFill/>
        </p:spPr>
        <p:txBody>
          <a:bodyPr wrap="none">
            <a:spAutoFit/>
          </a:bodyPr>
          <a:lstStyle/>
          <a:p>
            <a:pPr algn="ctr">
              <a:defRPr sz="950" b="1">
                <a:solidFill>
                  <a:srgbClr val="F5E495"/>
                </a:solidFill>
              </a:defRPr>
            </a:pPr>
            <a:r>
              <a:t>LIGHT LINEN MODE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CORE CANVAS ENGINE</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Interactive Family Tree Canvas Navigator</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Multi-touch, hardware-accelerated vector tree rendering with full generation mapping.</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Canvas Capabilities &amp; Navigation</a:t>
            </a:r>
          </a:p>
          <a:p>
            <a:pPr>
              <a:spcAft>
                <a:spcPts val="500"/>
              </a:spcAft>
              <a:defRPr sz="1100">
                <a:solidFill>
                  <a:srgbClr val="F0FDF4"/>
                </a:solidFill>
              </a:defRPr>
            </a:pPr>
            <a:r>
              <a:t>•  Infinite Pan &amp; Pinch-Zoom: Fluid multi-touch navigation across expansive multi-generational family trees without stutter.</a:t>
            </a:r>
          </a:p>
          <a:p>
            <a:pPr>
              <a:spcAft>
                <a:spcPts val="500"/>
              </a:spcAft>
              <a:defRPr sz="1100">
                <a:solidFill>
                  <a:srgbClr val="F0FDF4"/>
                </a:solidFill>
              </a:defRPr>
            </a:pPr>
            <a:r>
              <a:t>•  Custom Vector Tree Rendering: Bespoke anti-aliased connector curves joining parent-child nodes and marital unions.</a:t>
            </a:r>
          </a:p>
          <a:p>
            <a:pPr>
              <a:spcAft>
                <a:spcPts val="500"/>
              </a:spcAft>
              <a:defRPr sz="1100">
                <a:solidFill>
                  <a:srgbClr val="F0FDF4"/>
                </a:solidFill>
              </a:defRPr>
            </a:pPr>
            <a:r>
              <a:t>•  Generational Badge Hierarchy: Gold Ahnentafel badges and generation indicators distinguish patriarchs from newest descendants.</a:t>
            </a:r>
          </a:p>
          <a:p>
            <a:pPr>
              <a:spcAft>
                <a:spcPts val="500"/>
              </a:spcAft>
              <a:defRPr sz="1100">
                <a:solidFill>
                  <a:srgbClr val="F0FDF4"/>
                </a:solidFill>
              </a:defRPr>
            </a:pPr>
            <a:r>
              <a:t>•  Color-Coded Status Badges: Distinct visual markers for biological relatives, spouses, and in-law connections.</a:t>
            </a:r>
          </a:p>
          <a:p>
            <a:pPr>
              <a:spcAft>
                <a:spcPts val="500"/>
              </a:spcAft>
              <a:defRPr sz="1100">
                <a:solidFill>
                  <a:srgbClr val="F0FDF4"/>
                </a:solidFill>
              </a:defRPr>
            </a:pPr>
            <a:r>
              <a:t>•  Interactive Node Selection: Tapping any member instantly summons a contextual bottom sheet showing relationships and actions.</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ve_minimalist_tree.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GENEALOGICAL SCIENCE</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Ancestor Pedigree &amp; Ahnentafel Traversal</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Systematic lineage mapping based on standardized binary genealogical mathematics.</a:t>
            </a:r>
          </a:p>
        </p:txBody>
      </p:sp>
      <p:sp>
        <p:nvSpPr>
          <p:cNvPr id="6" name="Rounded Rectangle 5"/>
          <p:cNvSpPr/>
          <p:nvPr/>
        </p:nvSpPr>
        <p:spPr>
          <a:xfrm>
            <a:off x="731520" y="1645920"/>
            <a:ext cx="512064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754880" cy="4389120"/>
          </a:xfrm>
          <a:prstGeom prst="rect">
            <a:avLst/>
          </a:prstGeom>
          <a:noFill/>
        </p:spPr>
        <p:txBody>
          <a:bodyPr wrap="square">
            <a:spAutoFit/>
          </a:bodyPr>
          <a:lstStyle/>
          <a:p>
            <a:pPr>
              <a:spcAft>
                <a:spcPts val="600"/>
              </a:spcAft>
              <a:defRPr sz="1400" b="1">
                <a:solidFill>
                  <a:srgbClr val="F5E495"/>
                </a:solidFill>
              </a:defRPr>
            </a:pPr>
            <a:r>
              <a:t>Ahnentafel Math &amp; Traversal</a:t>
            </a:r>
          </a:p>
          <a:p>
            <a:pPr>
              <a:spcAft>
                <a:spcPts val="500"/>
              </a:spcAft>
              <a:defRPr sz="1100">
                <a:solidFill>
                  <a:srgbClr val="F0FDF4"/>
                </a:solidFill>
              </a:defRPr>
            </a:pPr>
            <a:r>
              <a:t>•  Strict Binary Tree Formula: Root person is 1; father is always 2n; mother is 2n+1.</a:t>
            </a:r>
          </a:p>
          <a:p>
            <a:pPr>
              <a:spcAft>
                <a:spcPts val="500"/>
              </a:spcAft>
              <a:defRPr sz="1100">
                <a:solidFill>
                  <a:srgbClr val="F0FDF4"/>
                </a:solidFill>
              </a:defRPr>
            </a:pPr>
            <a:r>
              <a:t>•  Generational Depth Calculation: Immediate computation of direct patrilineal and matrilineal ascent lines.</a:t>
            </a:r>
          </a:p>
          <a:p>
            <a:pPr>
              <a:spcAft>
                <a:spcPts val="500"/>
              </a:spcAft>
              <a:defRPr sz="1100">
                <a:solidFill>
                  <a:srgbClr val="F0FDF4"/>
                </a:solidFill>
              </a:defRPr>
            </a:pPr>
            <a:r>
              <a:t>•  Pedigree Collapse Prevention: Algorithms safely manage endogamy (cousin marriages) without infinite recursive loops.</a:t>
            </a:r>
          </a:p>
          <a:p>
            <a:pPr>
              <a:spcAft>
                <a:spcPts val="500"/>
              </a:spcAft>
              <a:defRPr sz="1100">
                <a:solidFill>
                  <a:srgbClr val="F0FDF4"/>
                </a:solidFill>
              </a:defRPr>
            </a:pPr>
            <a:r>
              <a:t>•  Instant Direct Ancestry Filter: Quickly isolates direct forebears while temporarily hiding lateral collateral branches.</a:t>
            </a:r>
          </a:p>
        </p:txBody>
      </p:sp>
      <p:sp>
        <p:nvSpPr>
          <p:cNvPr id="8" name="Rounded Rectangle 7"/>
          <p:cNvSpPr/>
          <p:nvPr/>
        </p:nvSpPr>
        <p:spPr>
          <a:xfrm>
            <a:off x="6217920" y="1645920"/>
            <a:ext cx="512064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783080"/>
            <a:ext cx="4754880" cy="4389120"/>
          </a:xfrm>
          <a:prstGeom prst="rect">
            <a:avLst/>
          </a:prstGeom>
          <a:noFill/>
        </p:spPr>
        <p:txBody>
          <a:bodyPr wrap="square">
            <a:spAutoFit/>
          </a:bodyPr>
          <a:lstStyle/>
          <a:p>
            <a:pPr>
              <a:spcAft>
                <a:spcPts val="600"/>
              </a:spcAft>
              <a:defRPr sz="1400" b="1">
                <a:solidFill>
                  <a:srgbClr val="F5E495"/>
                </a:solidFill>
              </a:defRPr>
            </a:pPr>
            <a:r>
              <a:t>Fan Chart Visualization</a:t>
            </a:r>
          </a:p>
          <a:p>
            <a:pPr>
              <a:spcAft>
                <a:spcPts val="500"/>
              </a:spcAft>
              <a:defRPr sz="1100">
                <a:solidFill>
                  <a:srgbClr val="F0FDF4"/>
                </a:solidFill>
              </a:defRPr>
            </a:pPr>
            <a:r>
              <a:t>•  Concentric Generation Rings: Renders ancestral lines radiating outwards like a classic pedigree fan.</a:t>
            </a:r>
          </a:p>
          <a:p>
            <a:pPr>
              <a:spcAft>
                <a:spcPts val="500"/>
              </a:spcAft>
              <a:defRPr sz="1100">
                <a:solidFill>
                  <a:srgbClr val="F0FDF4"/>
                </a:solidFill>
              </a:defRPr>
            </a:pPr>
            <a:r>
              <a:t>•  Color-Coded Quadrants: Paternal grandfather, paternal grandmother, maternal grandfather, maternal grandmother branches.</a:t>
            </a:r>
          </a:p>
          <a:p>
            <a:pPr>
              <a:spcAft>
                <a:spcPts val="500"/>
              </a:spcAft>
              <a:defRPr sz="1100">
                <a:solidFill>
                  <a:srgbClr val="F0FDF4"/>
                </a:solidFill>
              </a:defRPr>
            </a:pPr>
            <a:r>
              <a:t>•  High-Density Overview: Displays 5 to 7 ancestral generations on a single mobile viewport without panning.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KINSHIP INTELLIGENCE</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Bloodline Tracing Engine &amp; Statutory Degrees</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Automated Nearest Common Ancestor (MRCA) pathing and Philippine Family Code compliance.</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Tracing Engine Specifications</a:t>
            </a:r>
          </a:p>
          <a:p>
            <a:pPr>
              <a:spcAft>
                <a:spcPts val="500"/>
              </a:spcAft>
              <a:defRPr sz="1100">
                <a:solidFill>
                  <a:srgbClr val="F0FDF4"/>
                </a:solidFill>
              </a:defRPr>
            </a:pPr>
            <a:r>
              <a:t>•  MRCA Graph Traversal: Automated algorithm calculates the Lowest Common Ancestor connecting any two arbitrary tree members.</a:t>
            </a:r>
          </a:p>
          <a:p>
            <a:pPr>
              <a:spcAft>
                <a:spcPts val="500"/>
              </a:spcAft>
              <a:defRPr sz="1100">
                <a:solidFill>
                  <a:srgbClr val="F0FDF4"/>
                </a:solidFill>
              </a:defRPr>
            </a:pPr>
            <a:r>
              <a:t>•  Civil Law Degrees (Family Code Art. 963–966): Computes exact civil relationship degrees (1st degree parent, 2nd degree sibling/grandparent, 3rd degree uncle/aunt, 4th degree 1st cousin).</a:t>
            </a:r>
          </a:p>
          <a:p>
            <a:pPr>
              <a:spcAft>
                <a:spcPts val="500"/>
              </a:spcAft>
              <a:defRPr sz="1100">
                <a:solidFill>
                  <a:srgbClr val="F0FDF4"/>
                </a:solidFill>
              </a:defRPr>
            </a:pPr>
            <a:r>
              <a:t>•  Direct vs. Collateral Line Differentiation: Distinguishes direct ascending/descending lines from collateral sibling branches.</a:t>
            </a:r>
          </a:p>
          <a:p>
            <a:pPr>
              <a:spcAft>
                <a:spcPts val="500"/>
              </a:spcAft>
              <a:defRPr sz="1100">
                <a:solidFill>
                  <a:srgbClr val="F0FDF4"/>
                </a:solidFill>
              </a:defRPr>
            </a:pPr>
            <a:r>
              <a:t>•  Visual Step-by-Step Path Breakdown: Displays the step-by-step ascendant and descendant trail connecting the two selected relatives.</a:t>
            </a:r>
          </a:p>
          <a:p>
            <a:pPr>
              <a:spcAft>
                <a:spcPts val="500"/>
              </a:spcAft>
              <a:defRPr sz="1100">
                <a:solidFill>
                  <a:srgbClr val="F0FDF4"/>
                </a:solidFill>
              </a:defRPr>
            </a:pPr>
            <a:r>
              <a:t>•  Legal &amp; Succession Relevance: Vital for inheritance validation, marriage impediment verification, and reunion introductions.</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ace_screen.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ARCHIVAL VAULT</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Member Records &amp; Biographical Archival</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Preserving oral history, physical portraits, and historical milestones for posterity.</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Record Vault Capabilities</a:t>
            </a:r>
          </a:p>
          <a:p>
            <a:pPr>
              <a:spcAft>
                <a:spcPts val="500"/>
              </a:spcAft>
              <a:defRPr sz="1100">
                <a:solidFill>
                  <a:srgbClr val="F0FDF4"/>
                </a:solidFill>
              </a:defRPr>
            </a:pPr>
            <a:r>
              <a:t>•  Rich Biographical Cards: Detailed profiling including full legal names, maiden names, aliases, birthdates, and resting places.</a:t>
            </a:r>
          </a:p>
          <a:p>
            <a:pPr>
              <a:spcAft>
                <a:spcPts val="500"/>
              </a:spcAft>
              <a:defRPr sz="1100">
                <a:solidFill>
                  <a:srgbClr val="F0FDF4"/>
                </a:solidFill>
              </a:defRPr>
            </a:pPr>
            <a:r>
              <a:t>•  Multimedia Memory Attachments: High-resolution profile photos, historical family heirloom snapshots, and recorded voice notes.</a:t>
            </a:r>
          </a:p>
          <a:p>
            <a:pPr>
              <a:spcAft>
                <a:spcPts val="500"/>
              </a:spcAft>
              <a:defRPr sz="1100">
                <a:solidFill>
                  <a:srgbClr val="F0FDF4"/>
                </a:solidFill>
              </a:defRPr>
            </a:pPr>
            <a:r>
              <a:t>•  Geographical Heritage Tags: Documenting ancestral hometowns, birth municipalities, and migration history.</a:t>
            </a:r>
          </a:p>
          <a:p>
            <a:pPr>
              <a:spcAft>
                <a:spcPts val="500"/>
              </a:spcAft>
              <a:defRPr sz="1100">
                <a:solidFill>
                  <a:srgbClr val="F0FDF4"/>
                </a:solidFill>
              </a:defRPr>
            </a:pPr>
            <a:r>
              <a:t>•  Fast Search &amp; Generational Filtering: Instant indexed search by first name, surname, or generation badge.</a:t>
            </a:r>
          </a:p>
          <a:p>
            <a:pPr>
              <a:spcAft>
                <a:spcPts val="500"/>
              </a:spcAft>
              <a:defRPr sz="1100">
                <a:solidFill>
                  <a:srgbClr val="F0FDF4"/>
                </a:solidFill>
              </a:defRPr>
            </a:pPr>
            <a:r>
              <a:t>•  Live Relational Anchors: Direct navigation from a member's record straight into their position on the interactive canvas.</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acation_rerun_records_opened.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ADVANCED COLLABORATION</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Multi-Tree Merging &amp; Clan Federation</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Unifying separate family branches without data loss through guided synthesis.</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3-Step Merge Engine Workflow</a:t>
            </a:r>
          </a:p>
          <a:p>
            <a:pPr>
              <a:spcAft>
                <a:spcPts val="500"/>
              </a:spcAft>
              <a:defRPr sz="1100">
                <a:solidFill>
                  <a:srgbClr val="F0FDF4"/>
                </a:solidFill>
              </a:defRPr>
            </a:pPr>
            <a:r>
              <a:t>•  Step 1 — Tree Selection: Select an external tree branch via secure Tree Invite Code or shared Clan Federation Pass.</a:t>
            </a:r>
          </a:p>
          <a:p>
            <a:pPr>
              <a:spcAft>
                <a:spcPts val="500"/>
              </a:spcAft>
              <a:defRPr sz="1100">
                <a:solidFill>
                  <a:srgbClr val="F0FDF4"/>
                </a:solidFill>
              </a:defRPr>
            </a:pPr>
            <a:r>
              <a:t>•  Step 2 — Bridge Person Linking: Pinpoint the shared relative or marriage bridge that connects the two distinct lineages.</a:t>
            </a:r>
          </a:p>
          <a:p>
            <a:pPr>
              <a:spcAft>
                <a:spcPts val="500"/>
              </a:spcAft>
              <a:defRPr sz="1100">
                <a:solidFill>
                  <a:srgbClr val="F0FDF4"/>
                </a:solidFill>
              </a:defRPr>
            </a:pPr>
            <a:r>
              <a:t>•  Step 3 — Conflict &amp; Duplicate Resolution: Visual side-by-side reconciliation of overlapping records and differing dates.</a:t>
            </a:r>
          </a:p>
          <a:p>
            <a:pPr>
              <a:spcAft>
                <a:spcPts val="500"/>
              </a:spcAft>
              <a:defRPr sz="1100">
                <a:solidFill>
                  <a:srgbClr val="F0FDF4"/>
                </a:solidFill>
              </a:defRPr>
            </a:pPr>
            <a:r>
              <a:t>•  Zero-Risk Master Tree Synthesis: Synthesizes a unified Master Tree C while keeping original trees A and B safe as pristine backups.</a:t>
            </a:r>
          </a:p>
          <a:p>
            <a:pPr>
              <a:spcAft>
                <a:spcPts val="500"/>
              </a:spcAft>
              <a:defRPr sz="1100">
                <a:solidFill>
                  <a:srgbClr val="F0FDF4"/>
                </a:solidFill>
              </a:defRPr>
            </a:pPr>
            <a:r>
              <a:t>•  Automatic Relationship Bidirectionality: Ensures parent, child, and spouse pointers are reciprocally updated across both branches.</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umgen_phase4_merge_screen.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GOVERNANCE &amp; SECURITY</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Family Privacy &amp; RBAC Security Matrix</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Granular role-based access control protecting living relatives from unauthorized exposure.</a:t>
            </a:r>
          </a:p>
        </p:txBody>
      </p:sp>
      <p:sp>
        <p:nvSpPr>
          <p:cNvPr id="6" name="Rounded Rectangle 5"/>
          <p:cNvSpPr/>
          <p:nvPr/>
        </p:nvSpPr>
        <p:spPr>
          <a:xfrm>
            <a:off x="731520" y="1645920"/>
            <a:ext cx="493776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572000" cy="4389120"/>
          </a:xfrm>
          <a:prstGeom prst="rect">
            <a:avLst/>
          </a:prstGeom>
          <a:noFill/>
        </p:spPr>
        <p:txBody>
          <a:bodyPr wrap="square">
            <a:spAutoFit/>
          </a:bodyPr>
          <a:lstStyle/>
          <a:p>
            <a:pPr>
              <a:spcAft>
                <a:spcPts val="600"/>
              </a:spcAft>
              <a:defRPr sz="1400" b="1">
                <a:solidFill>
                  <a:srgbClr val="F5E495"/>
                </a:solidFill>
              </a:defRPr>
            </a:pPr>
            <a:r>
              <a:t>Privacy Engine &amp; Controls Walkthrough</a:t>
            </a:r>
          </a:p>
          <a:p>
            <a:pPr>
              <a:spcAft>
                <a:spcPts val="500"/>
              </a:spcAft>
              <a:defRPr sz="1100">
                <a:solidFill>
                  <a:srgbClr val="F0FDF4"/>
                </a:solidFill>
              </a:defRPr>
            </a:pPr>
            <a:r>
              <a:t>•  Tree Visibility Switch: Instant one-tap toggle between completely Private tree (authorized only) and Shared Clan access.</a:t>
            </a:r>
          </a:p>
          <a:p>
            <a:pPr>
              <a:spcAft>
                <a:spcPts val="500"/>
              </a:spcAft>
              <a:defRPr sz="1100">
                <a:solidFill>
                  <a:srgbClr val="F0FDF4"/>
                </a:solidFill>
              </a:defRPr>
            </a:pPr>
            <a:r>
              <a:t>•  Granular Member Masking: Selective switches to hide birth dates, personal notes, and sensitive deceased statuses from non-owners.</a:t>
            </a:r>
          </a:p>
          <a:p>
            <a:pPr>
              <a:spcAft>
                <a:spcPts val="500"/>
              </a:spcAft>
              <a:defRPr sz="1100">
                <a:solidFill>
                  <a:srgbClr val="F0FDF4"/>
                </a:solidFill>
              </a:defRPr>
            </a:pPr>
            <a:r>
              <a:t>•  4-Tier Role Hierarchy: Clan Owner (full rights), Editor (branch updates), Contributor (suggestions), and Viewer (read-only).</a:t>
            </a:r>
          </a:p>
          <a:p>
            <a:pPr>
              <a:spcAft>
                <a:spcPts val="500"/>
              </a:spcAft>
              <a:defRPr sz="1100">
                <a:solidFill>
                  <a:srgbClr val="F0FDF4"/>
                </a:solidFill>
              </a:defRPr>
            </a:pPr>
            <a:r>
              <a:t>•  Authorized Members Management: Real-time list of delegated clan managers with quick Invite Code generation.</a:t>
            </a:r>
          </a:p>
          <a:p>
            <a:pPr>
              <a:spcAft>
                <a:spcPts val="500"/>
              </a:spcAft>
              <a:defRPr sz="1100">
                <a:solidFill>
                  <a:srgbClr val="F0FDF4"/>
                </a:solidFill>
              </a:defRPr>
            </a:pPr>
            <a:r>
              <a:t>•  Legal Ethics Standard: Prevents data harvesting while keeping heritage discovery accessible to verified descendants.</a:t>
            </a:r>
          </a:p>
        </p:txBody>
      </p:sp>
      <p:sp>
        <p:nvSpPr>
          <p:cNvPr id="8" name="Rounded Rectangle 7"/>
          <p:cNvSpPr/>
          <p:nvPr/>
        </p:nvSpPr>
        <p:spPr>
          <a:xfrm>
            <a:off x="6108192" y="1170432"/>
            <a:ext cx="2523744" cy="534009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ivacy_dark_screen.png"/>
          <p:cNvPicPr>
            <a:picLocks noChangeAspect="1"/>
          </p:cNvPicPr>
          <p:nvPr/>
        </p:nvPicPr>
        <p:blipFill>
          <a:blip r:embed="rId2"/>
          <a:stretch>
            <a:fillRect/>
          </a:stretch>
        </p:blipFill>
        <p:spPr>
          <a:xfrm>
            <a:off x="6217920" y="1280160"/>
            <a:ext cx="3198431" cy="5120640"/>
          </a:xfrm>
          <a:prstGeom prst="rect">
            <a:avLst/>
          </a:prstGeom>
        </p:spPr>
      </p:pic>
      <p:sp>
        <p:nvSpPr>
          <p:cNvPr id="10" name="Rounded Rectangle 9"/>
          <p:cNvSpPr/>
          <p:nvPr/>
        </p:nvSpPr>
        <p:spPr>
          <a:xfrm>
            <a:off x="8778240" y="1170432"/>
            <a:ext cx="2523744" cy="534009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rivacy_screen.png"/>
          <p:cNvPicPr>
            <a:picLocks noChangeAspect="1"/>
          </p:cNvPicPr>
          <p:nvPr/>
        </p:nvPicPr>
        <p:blipFill>
          <a:blip r:embed="rId3"/>
          <a:stretch>
            <a:fillRect/>
          </a:stretch>
        </p:blipFill>
        <p:spPr>
          <a:xfrm>
            <a:off x="8887968" y="1280160"/>
            <a:ext cx="2304288" cy="5120640"/>
          </a:xfrm>
          <a:prstGeom prst="rect">
            <a:avLst/>
          </a:prstGeom>
        </p:spPr>
      </p:pic>
      <p:sp>
        <p:nvSpPr>
          <p:cNvPr id="12" name="TextBox 11"/>
          <p:cNvSpPr txBox="1"/>
          <p:nvPr/>
        </p:nvSpPr>
        <p:spPr>
          <a:xfrm>
            <a:off x="6126480" y="868680"/>
            <a:ext cx="2487168" cy="320040"/>
          </a:xfrm>
          <a:prstGeom prst="rect">
            <a:avLst/>
          </a:prstGeom>
          <a:noFill/>
        </p:spPr>
        <p:txBody>
          <a:bodyPr wrap="none">
            <a:spAutoFit/>
          </a:bodyPr>
          <a:lstStyle/>
          <a:p>
            <a:pPr algn="ctr">
              <a:defRPr sz="950" b="1">
                <a:solidFill>
                  <a:srgbClr val="F5E495"/>
                </a:solidFill>
              </a:defRPr>
            </a:pPr>
            <a:r>
              <a:t>DARK EMERALD PRIVACY VIEW</a:t>
            </a:r>
          </a:p>
        </p:txBody>
      </p:sp>
      <p:sp>
        <p:nvSpPr>
          <p:cNvPr id="13" name="TextBox 12"/>
          <p:cNvSpPr txBox="1"/>
          <p:nvPr/>
        </p:nvSpPr>
        <p:spPr>
          <a:xfrm>
            <a:off x="8796528" y="868680"/>
            <a:ext cx="2487168" cy="320040"/>
          </a:xfrm>
          <a:prstGeom prst="rect">
            <a:avLst/>
          </a:prstGeom>
          <a:noFill/>
        </p:spPr>
        <p:txBody>
          <a:bodyPr wrap="none">
            <a:spAutoFit/>
          </a:bodyPr>
          <a:lstStyle/>
          <a:p>
            <a:pPr algn="ctr">
              <a:defRPr sz="950" b="1">
                <a:solidFill>
                  <a:srgbClr val="F5E495"/>
                </a:solidFill>
              </a:defRPr>
            </a:pPr>
            <a:r>
              <a:t>LIGHT LINEN PRIVACY VIEW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EDUCATION &amp; STEWARDSHIP</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KinAcademy Genealogical Hub &amp; Lexicon</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A built-in 10-module curriculum teaching relatives the science of family preservation.</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KinAcademy Learning Modules</a:t>
            </a:r>
          </a:p>
          <a:p>
            <a:pPr>
              <a:spcAft>
                <a:spcPts val="500"/>
              </a:spcAft>
              <a:defRPr sz="1100">
                <a:solidFill>
                  <a:srgbClr val="F0FDF4"/>
                </a:solidFill>
              </a:defRPr>
            </a:pPr>
            <a:r>
              <a:t>•  10 Structured Lessons: Covers Clan Initiation, Canvas Navigation, Ahnentafel Math, Bloodline Tracing, Archival Ethics, and Multi-Tree Merging.</a:t>
            </a:r>
          </a:p>
          <a:p>
            <a:pPr>
              <a:spcAft>
                <a:spcPts val="500"/>
              </a:spcAft>
              <a:defRPr sz="1100">
                <a:solidFill>
                  <a:srgbClr val="F0FDF4"/>
                </a:solidFill>
              </a:defRPr>
            </a:pPr>
            <a:r>
              <a:t>•  Searchable Genealogical Lexicon: Comprehensive glossary explaining terms like MRCA, Consanguinity, Collateral Kin, and Pedigree Collapse.</a:t>
            </a:r>
          </a:p>
          <a:p>
            <a:pPr>
              <a:spcAft>
                <a:spcPts val="500"/>
              </a:spcAft>
              <a:defRPr sz="1100">
                <a:solidFill>
                  <a:srgbClr val="F0FDF4"/>
                </a:solidFill>
              </a:defRPr>
            </a:pPr>
            <a:r>
              <a:t>•  Statutory Law Primer: Interactive explanations of Philippine civil laws regarding inheritance, legitimate succession, and civil degrees.</a:t>
            </a:r>
          </a:p>
          <a:p>
            <a:pPr>
              <a:spcAft>
                <a:spcPts val="500"/>
              </a:spcAft>
              <a:defRPr sz="1100">
                <a:solidFill>
                  <a:srgbClr val="F0FDF4"/>
                </a:solidFill>
              </a:defRPr>
            </a:pPr>
            <a:r>
              <a:t>•  Offline Educational Access: All courseware and glossaries are bundled locally for instant access during rural family reunions.</a:t>
            </a:r>
          </a:p>
          <a:p>
            <a:pPr>
              <a:spcAft>
                <a:spcPts val="500"/>
              </a:spcAft>
              <a:defRPr sz="1100">
                <a:solidFill>
                  <a:srgbClr val="F0FDF4"/>
                </a:solidFill>
              </a:defRPr>
            </a:pPr>
            <a:r>
              <a:t>•  Interactive Knowledge Quests: Users unlock Clan Builder achievements by exploring lessons and applying principles.</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in_academy_screen.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SYSTEM OPERATIONS</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System Admin Citadel &amp; Live Operations</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Centralized operational control, live aggregate telemetry, and broadcast advisories.</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Admin Citadel Controls</a:t>
            </a:r>
          </a:p>
          <a:p>
            <a:pPr>
              <a:spcAft>
                <a:spcPts val="500"/>
              </a:spcAft>
              <a:defRPr sz="1100">
                <a:solidFill>
                  <a:srgbClr val="F0FDF4"/>
                </a:solidFill>
              </a:defRPr>
            </a:pPr>
            <a:r>
              <a:t>•  Real-Time Aggregate Telemetry: Live metrics monitoring total active trees, registered users, relationship links, and cloud storage health.</a:t>
            </a:r>
          </a:p>
          <a:p>
            <a:pPr>
              <a:spcAft>
                <a:spcPts val="500"/>
              </a:spcAft>
              <a:defRPr sz="1100">
                <a:solidFill>
                  <a:srgbClr val="F0FDF4"/>
                </a:solidFill>
              </a:defRPr>
            </a:pPr>
            <a:r>
              <a:t>•  System Broadcast Announcer: Instant global delivery of maintenance notices, update advisories, and system alerts to all client home screens.</a:t>
            </a:r>
          </a:p>
          <a:p>
            <a:pPr>
              <a:spcAft>
                <a:spcPts val="500"/>
              </a:spcAft>
              <a:defRPr sz="1100">
                <a:solidFill>
                  <a:srgbClr val="F0FDF4"/>
                </a:solidFill>
              </a:defRPr>
            </a:pPr>
            <a:r>
              <a:t>•  Demo Account Vault: Pre-populated test environment for live demonstrations, auditor inspections, and test verifications.</a:t>
            </a:r>
          </a:p>
          <a:p>
            <a:pPr>
              <a:spcAft>
                <a:spcPts val="500"/>
              </a:spcAft>
              <a:defRPr sz="1100">
                <a:solidFill>
                  <a:srgbClr val="F0FDF4"/>
                </a:solidFill>
              </a:defRPr>
            </a:pPr>
            <a:r>
              <a:t>•  Emergency Maintenance Switch: Instant toggle to pause branch merges during server indexing or scheduled cloud database migrations.</a:t>
            </a:r>
          </a:p>
          <a:p>
            <a:pPr>
              <a:spcAft>
                <a:spcPts val="500"/>
              </a:spcAft>
              <a:defRPr sz="1100">
                <a:solidFill>
                  <a:srgbClr val="F0FDF4"/>
                </a:solidFill>
              </a:defRPr>
            </a:pPr>
            <a:r>
              <a:t>•  Audit Trail Logging: Immutable log tracking administrative changes, system announcements, and security modifications.</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ab_ops_opened.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DEVOPS &amp; DELIVERY</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Over-The-Air (OTA) Updates &amp; Cloud Sync</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Zero-friction client updates and reactive multi-device state synchronization.</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Continuous Delivery &amp; Reactive Sync</a:t>
            </a:r>
          </a:p>
          <a:p>
            <a:pPr>
              <a:spcAft>
                <a:spcPts val="500"/>
              </a:spcAft>
              <a:defRPr sz="1100">
                <a:solidFill>
                  <a:srgbClr val="F0FDF4"/>
                </a:solidFill>
              </a:defRPr>
            </a:pPr>
            <a:r>
              <a:t>•  In-App Version Handshake: Automatically checks Firebase remote configuration on launch for new APK releases.</a:t>
            </a:r>
          </a:p>
          <a:p>
            <a:pPr>
              <a:spcAft>
                <a:spcPts val="500"/>
              </a:spcAft>
              <a:defRPr sz="1100">
                <a:solidFill>
                  <a:srgbClr val="F0FDF4"/>
                </a:solidFill>
              </a:defRPr>
            </a:pPr>
            <a:r>
              <a:t>•  Zero-Friction In-App Download: Integrated download progress dialog with SHA-256 hash verification and direct package install prompt.</a:t>
            </a:r>
          </a:p>
          <a:p>
            <a:pPr>
              <a:spcAft>
                <a:spcPts val="500"/>
              </a:spcAft>
              <a:defRPr sz="1100">
                <a:solidFill>
                  <a:srgbClr val="F0FDF4"/>
                </a:solidFill>
              </a:defRPr>
            </a:pPr>
            <a:r>
              <a:t>•  CentralTreeSynchronizer Bus: Reactive event bus ensuring that changes made on one phone propagate to other family members within milliseconds.</a:t>
            </a:r>
          </a:p>
          <a:p>
            <a:pPr>
              <a:spcAft>
                <a:spcPts val="500"/>
              </a:spcAft>
              <a:defRPr sz="1100">
                <a:solidFill>
                  <a:srgbClr val="F0FDF4"/>
                </a:solidFill>
              </a:defRPr>
            </a:pPr>
            <a:r>
              <a:t>•  Offline-First SQLite Cache: Full tree view and records remain completely browseable even in remote provincial areas without cellular coverage.</a:t>
            </a:r>
          </a:p>
          <a:p>
            <a:pPr>
              <a:spcAft>
                <a:spcPts val="500"/>
              </a:spcAft>
              <a:defRPr sz="1100">
                <a:solidFill>
                  <a:srgbClr val="F0FDF4"/>
                </a:solidFill>
              </a:defRPr>
            </a:pPr>
            <a:r>
              <a:t>•  Automatic Conflict Merging: Debounced network retries and automated conflict reconciliation prevent state corruption.</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ta_dialog_live_success.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PRESERVATION &amp; OUTPUT</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Export, Archival &amp; Physical Heritage</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Delivering timeless physical and digital artifacts for clan reunions and legal records.</a:t>
            </a:r>
          </a:p>
        </p:txBody>
      </p:sp>
      <p:sp>
        <p:nvSpPr>
          <p:cNvPr id="6" name="Rounded Rectangle 5"/>
          <p:cNvSpPr/>
          <p:nvPr/>
        </p:nvSpPr>
        <p:spPr>
          <a:xfrm>
            <a:off x="731520" y="1645920"/>
            <a:ext cx="530352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937760" cy="4389120"/>
          </a:xfrm>
          <a:prstGeom prst="rect">
            <a:avLst/>
          </a:prstGeom>
          <a:noFill/>
        </p:spPr>
        <p:txBody>
          <a:bodyPr wrap="square">
            <a:spAutoFit/>
          </a:bodyPr>
          <a:lstStyle/>
          <a:p>
            <a:pPr>
              <a:spcAft>
                <a:spcPts val="600"/>
              </a:spcAft>
              <a:defRPr sz="1400" b="1">
                <a:solidFill>
                  <a:srgbClr val="F5E495"/>
                </a:solidFill>
              </a:defRPr>
            </a:pPr>
            <a:r>
              <a:t>Export &amp; Archival Outputs</a:t>
            </a:r>
          </a:p>
          <a:p>
            <a:pPr>
              <a:spcAft>
                <a:spcPts val="500"/>
              </a:spcAft>
              <a:defRPr sz="1100">
                <a:solidFill>
                  <a:srgbClr val="F0FDF4"/>
                </a:solidFill>
              </a:defRPr>
            </a:pPr>
            <a:r>
              <a:t>•  High-Resolution PDF Tree Posters: Renders vector family trees into publication-ready PDF documents suitable for large-format reunion banners.</a:t>
            </a:r>
          </a:p>
          <a:p>
            <a:pPr>
              <a:spcAft>
                <a:spcPts val="500"/>
              </a:spcAft>
              <a:defRPr sz="1100">
                <a:solidFill>
                  <a:srgbClr val="F0FDF4"/>
                </a:solidFill>
              </a:defRPr>
            </a:pPr>
            <a:r>
              <a:t>•  Standard Genealogical CSV Export: Exports structured tabular member directories for import into desktop genealogy suites or legal proceedings.</a:t>
            </a:r>
          </a:p>
          <a:p>
            <a:pPr>
              <a:spcAft>
                <a:spcPts val="500"/>
              </a:spcAft>
              <a:defRPr sz="1100">
                <a:solidFill>
                  <a:srgbClr val="F0FDF4"/>
                </a:solidFill>
              </a:defRPr>
            </a:pPr>
            <a:r>
              <a:t>•  Encrypted Cloud Backup: Automated snapshot creation ensuring family heritage is shielded from phone loss, theft, or hardware failure.</a:t>
            </a:r>
          </a:p>
          <a:p>
            <a:pPr>
              <a:spcAft>
                <a:spcPts val="500"/>
              </a:spcAft>
              <a:defRPr sz="1100">
                <a:solidFill>
                  <a:srgbClr val="F0FDF4"/>
                </a:solidFill>
              </a:defRPr>
            </a:pPr>
            <a:r>
              <a:t>•  Physical Heirloom Framing Guide: Pre-formatted printable ancestral cards highlighting patriarchs, matriarchs, and generational statistics.</a:t>
            </a:r>
          </a:p>
          <a:p>
            <a:pPr>
              <a:spcAft>
                <a:spcPts val="500"/>
              </a:spcAft>
              <a:defRPr sz="1100">
                <a:solidFill>
                  <a:srgbClr val="F0FDF4"/>
                </a:solidFill>
              </a:defRPr>
            </a:pPr>
            <a:r>
              <a:t>•  Legal Relationship Certificates: Formatted relationship degree summaries ready for civil registry submissions or estate validation.</a:t>
            </a:r>
          </a:p>
        </p:txBody>
      </p:sp>
      <p:sp>
        <p:nvSpPr>
          <p:cNvPr id="8" name="Rounded Rectangle 7"/>
          <p:cNvSpPr/>
          <p:nvPr/>
        </p:nvSpPr>
        <p:spPr>
          <a:xfrm>
            <a:off x="7388351" y="1078992"/>
            <a:ext cx="2606040" cy="552297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xport_screen.png"/>
          <p:cNvPicPr>
            <a:picLocks noChangeAspect="1"/>
          </p:cNvPicPr>
          <p:nvPr/>
        </p:nvPicPr>
        <p:blipFill>
          <a:blip r:embed="rId2"/>
          <a:stretch>
            <a:fillRect/>
          </a:stretch>
        </p:blipFill>
        <p:spPr>
          <a:xfrm>
            <a:off x="7498079" y="1188720"/>
            <a:ext cx="2386584" cy="53035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6400800" cy="320040"/>
          </a:xfrm>
          <a:prstGeom prst="rect">
            <a:avLst/>
          </a:prstGeom>
          <a:noFill/>
        </p:spPr>
        <p:txBody>
          <a:bodyPr wrap="square">
            <a:spAutoFit/>
          </a:bodyPr>
          <a:lstStyle/>
          <a:p>
            <a:pPr>
              <a:defRPr sz="1100" b="1">
                <a:solidFill>
                  <a:srgbClr val="D4AF37"/>
                </a:solidFill>
              </a:defRPr>
            </a:pPr>
            <a:r>
              <a:t>✨  DESIGN &amp; CRAFT</a:t>
            </a:r>
          </a:p>
        </p:txBody>
      </p:sp>
      <p:sp>
        <p:nvSpPr>
          <p:cNvPr id="4" name="TextBox 3"/>
          <p:cNvSpPr txBox="1"/>
          <p:nvPr/>
        </p:nvSpPr>
        <p:spPr>
          <a:xfrm>
            <a:off x="731520" y="621792"/>
            <a:ext cx="10789920" cy="594360"/>
          </a:xfrm>
          <a:prstGeom prst="rect">
            <a:avLst/>
          </a:prstGeom>
          <a:noFill/>
        </p:spPr>
        <p:txBody>
          <a:bodyPr wrap="square">
            <a:spAutoFit/>
          </a:bodyPr>
          <a:lstStyle/>
          <a:p>
            <a:pPr>
              <a:defRPr sz="2300" b="1">
                <a:solidFill>
                  <a:srgbClr val="F0FDF4"/>
                </a:solidFill>
              </a:defRPr>
            </a:pPr>
            <a:r>
              <a:t>Dark Emerald &amp; Light Linen Dual-Theme Engine</a:t>
            </a:r>
          </a:p>
        </p:txBody>
      </p:sp>
      <p:sp>
        <p:nvSpPr>
          <p:cNvPr id="5" name="TextBox 4"/>
          <p:cNvSpPr txBox="1"/>
          <p:nvPr/>
        </p:nvSpPr>
        <p:spPr>
          <a:xfrm>
            <a:off x="731520" y="1143000"/>
            <a:ext cx="10789920" cy="347472"/>
          </a:xfrm>
          <a:prstGeom prst="rect">
            <a:avLst/>
          </a:prstGeom>
          <a:noFill/>
        </p:spPr>
        <p:txBody>
          <a:bodyPr wrap="square">
            <a:spAutoFit/>
          </a:bodyPr>
          <a:lstStyle/>
          <a:p>
            <a:pPr>
              <a:defRPr sz="1250">
                <a:solidFill>
                  <a:srgbClr val="8BA394"/>
                </a:solidFill>
              </a:defRPr>
            </a:pPr>
            <a:r>
              <a:t>Bespoke executive visual craftsmanship tailored for both day and night viewing.</a:t>
            </a:r>
          </a:p>
        </p:txBody>
      </p:sp>
      <p:sp>
        <p:nvSpPr>
          <p:cNvPr id="6" name="Rounded Rectangle 5"/>
          <p:cNvSpPr/>
          <p:nvPr/>
        </p:nvSpPr>
        <p:spPr>
          <a:xfrm>
            <a:off x="731520" y="1645920"/>
            <a:ext cx="4937760" cy="4663440"/>
          </a:xfrm>
          <a:prstGeom prst="roundRect">
            <a:avLst/>
          </a:prstGeom>
          <a:solidFill>
            <a:srgbClr val="0E1E14"/>
          </a:solidFill>
          <a:ln w="19050">
            <a:solidFill>
              <a:srgbClr val="1B38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572000" cy="4389120"/>
          </a:xfrm>
          <a:prstGeom prst="rect">
            <a:avLst/>
          </a:prstGeom>
          <a:noFill/>
        </p:spPr>
        <p:txBody>
          <a:bodyPr wrap="square">
            <a:spAutoFit/>
          </a:bodyPr>
          <a:lstStyle/>
          <a:p>
            <a:pPr>
              <a:spcAft>
                <a:spcPts val="600"/>
              </a:spcAft>
              <a:defRPr sz="1400" b="1">
                <a:solidFill>
                  <a:srgbClr val="F5E495"/>
                </a:solidFill>
              </a:defRPr>
            </a:pPr>
            <a:r>
              <a:t>Executive Visual Identity</a:t>
            </a:r>
          </a:p>
          <a:p>
            <a:pPr>
              <a:spcAft>
                <a:spcPts val="500"/>
              </a:spcAft>
              <a:defRPr sz="1100">
                <a:solidFill>
                  <a:srgbClr val="F0FDF4"/>
                </a:solidFill>
              </a:defRPr>
            </a:pPr>
            <a:r>
              <a:t>•  Dark Emerald Heritage (#060D09): Rich obsidian-green surfaces conveying prestige, permanence, and historical legacy.</a:t>
            </a:r>
          </a:p>
          <a:p>
            <a:pPr>
              <a:spcAft>
                <a:spcPts val="500"/>
              </a:spcAft>
              <a:defRPr sz="1100">
                <a:solidFill>
                  <a:srgbClr val="F0FDF4"/>
                </a:solidFill>
              </a:defRPr>
            </a:pPr>
            <a:r>
              <a:t>•  Warm Gold Accents (#D4AF37): Metallic gold badges and indicators highlighting key generation milestones.</a:t>
            </a:r>
          </a:p>
          <a:p>
            <a:pPr>
              <a:spcAft>
                <a:spcPts val="500"/>
              </a:spcAft>
              <a:defRPr sz="1100">
                <a:solidFill>
                  <a:srgbClr val="F0FDF4"/>
                </a:solidFill>
              </a:defRPr>
            </a:pPr>
            <a:r>
              <a:t>•  Light Linen Mode (#EAECE4): Eye-comfortable warm linen surfaces that avoid harsh glare in outdoor reunion environments.</a:t>
            </a:r>
          </a:p>
          <a:p>
            <a:pPr>
              <a:spcAft>
                <a:spcPts val="500"/>
              </a:spcAft>
              <a:defRPr sz="1100">
                <a:solidFill>
                  <a:srgbClr val="F0FDF4"/>
                </a:solidFill>
              </a:defRPr>
            </a:pPr>
            <a:r>
              <a:t>•  Executive Typography: Custom Sora (display), Inter (UI), and JetBrains Mono (dates &amp; codes) typefaces.</a:t>
            </a:r>
          </a:p>
          <a:p>
            <a:pPr>
              <a:spcAft>
                <a:spcPts val="500"/>
              </a:spcAft>
              <a:defRPr sz="1100">
                <a:solidFill>
                  <a:srgbClr val="F0FDF4"/>
                </a:solidFill>
              </a:defRPr>
            </a:pPr>
            <a:r>
              <a:t>•  Instant One-Tap Switch: Theme toggle right in the hero banner allows instant switching without restarting the app.</a:t>
            </a:r>
          </a:p>
        </p:txBody>
      </p:sp>
      <p:sp>
        <p:nvSpPr>
          <p:cNvPr id="8" name="Rounded Rectangle 7"/>
          <p:cNvSpPr/>
          <p:nvPr/>
        </p:nvSpPr>
        <p:spPr>
          <a:xfrm>
            <a:off x="6108192" y="1170432"/>
            <a:ext cx="2523744" cy="534009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ve_twin_pod_dark_home.png"/>
          <p:cNvPicPr>
            <a:picLocks noChangeAspect="1"/>
          </p:cNvPicPr>
          <p:nvPr/>
        </p:nvPicPr>
        <p:blipFill>
          <a:blip r:embed="rId2"/>
          <a:stretch>
            <a:fillRect/>
          </a:stretch>
        </p:blipFill>
        <p:spPr>
          <a:xfrm>
            <a:off x="6217920" y="1280160"/>
            <a:ext cx="2304288" cy="5120640"/>
          </a:xfrm>
          <a:prstGeom prst="rect">
            <a:avLst/>
          </a:prstGeom>
        </p:spPr>
      </p:pic>
      <p:sp>
        <p:nvSpPr>
          <p:cNvPr id="10" name="Rounded Rectangle 9"/>
          <p:cNvSpPr/>
          <p:nvPr/>
        </p:nvSpPr>
        <p:spPr>
          <a:xfrm>
            <a:off x="8778240" y="1170432"/>
            <a:ext cx="2523744" cy="5340096"/>
          </a:xfrm>
          <a:prstGeom prst="roundRect">
            <a:avLst/>
          </a:prstGeom>
          <a:solidFill>
            <a:srgbClr val="12261A"/>
          </a:solidFill>
          <a:ln w="2286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ve_twin_pod_nobanner.png"/>
          <p:cNvPicPr>
            <a:picLocks noChangeAspect="1"/>
          </p:cNvPicPr>
          <p:nvPr/>
        </p:nvPicPr>
        <p:blipFill>
          <a:blip r:embed="rId3"/>
          <a:stretch>
            <a:fillRect/>
          </a:stretch>
        </p:blipFill>
        <p:spPr>
          <a:xfrm>
            <a:off x="8887968" y="1280160"/>
            <a:ext cx="2304288" cy="5120640"/>
          </a:xfrm>
          <a:prstGeom prst="rect">
            <a:avLst/>
          </a:prstGeom>
        </p:spPr>
      </p:pic>
      <p:sp>
        <p:nvSpPr>
          <p:cNvPr id="12" name="TextBox 11"/>
          <p:cNvSpPr txBox="1"/>
          <p:nvPr/>
        </p:nvSpPr>
        <p:spPr>
          <a:xfrm>
            <a:off x="6126480" y="868680"/>
            <a:ext cx="2487168" cy="320040"/>
          </a:xfrm>
          <a:prstGeom prst="rect">
            <a:avLst/>
          </a:prstGeom>
          <a:noFill/>
        </p:spPr>
        <p:txBody>
          <a:bodyPr wrap="none">
            <a:spAutoFit/>
          </a:bodyPr>
          <a:lstStyle/>
          <a:p>
            <a:pPr algn="ctr">
              <a:defRPr sz="950" b="1">
                <a:solidFill>
                  <a:srgbClr val="F5E495"/>
                </a:solidFill>
              </a:defRPr>
            </a:pPr>
            <a:r>
              <a:t>DARK EMERALD HERITAGE</a:t>
            </a:r>
          </a:p>
        </p:txBody>
      </p:sp>
      <p:sp>
        <p:nvSpPr>
          <p:cNvPr id="13" name="TextBox 12"/>
          <p:cNvSpPr txBox="1"/>
          <p:nvPr/>
        </p:nvSpPr>
        <p:spPr>
          <a:xfrm>
            <a:off x="8796528" y="868680"/>
            <a:ext cx="2487168" cy="320040"/>
          </a:xfrm>
          <a:prstGeom prst="rect">
            <a:avLst/>
          </a:prstGeom>
          <a:noFill/>
        </p:spPr>
        <p:txBody>
          <a:bodyPr wrap="none">
            <a:spAutoFit/>
          </a:bodyPr>
          <a:lstStyle/>
          <a:p>
            <a:pPr algn="ctr">
              <a:defRPr sz="950" b="1">
                <a:solidFill>
                  <a:srgbClr val="F5E495"/>
                </a:solidFill>
              </a:defRPr>
            </a:pPr>
            <a:r>
              <a:t>LIGHT LINEN MODE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60D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292608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3657600"/>
          </a:xfrm>
          <a:prstGeom prst="rect">
            <a:avLst/>
          </a:prstGeom>
          <a:noFill/>
        </p:spPr>
        <p:txBody>
          <a:bodyPr wrap="square">
            <a:spAutoFit/>
          </a:bodyPr>
          <a:lstStyle/>
          <a:p>
            <a:pPr>
              <a:spcAft>
                <a:spcPts val="1200"/>
              </a:spcAft>
              <a:defRPr sz="1200" b="1">
                <a:solidFill>
                  <a:srgbClr val="D4AF37"/>
                </a:solidFill>
              </a:defRPr>
            </a:pPr>
            <a:r>
              <a:t>SUMMARY &amp; NEXT STEPS</a:t>
            </a:r>
          </a:p>
          <a:p>
            <a:pPr>
              <a:spcAft>
                <a:spcPts val="1400"/>
              </a:spcAft>
              <a:defRPr sz="4600" b="1">
                <a:solidFill>
                  <a:srgbClr val="F0FDF4"/>
                </a:solidFill>
              </a:defRPr>
            </a:pPr>
            <a:r>
              <a:t>KinTrace: Built for Generations</a:t>
            </a:r>
          </a:p>
          <a:p>
            <a:pPr>
              <a:defRPr sz="1400">
                <a:solidFill>
                  <a:srgbClr val="8BA394"/>
                </a:solidFill>
              </a:defRPr>
            </a:pPr>
            <a:r>
              <a:t>•  100% Native Android Architecture (Kotlin, Material You, Hardware-Accelerated Vector Canvas)</a:t>
            </a:r>
            <a:br/>
            <a:r>
              <a:t>•  Statutory Compliance with Philippine Family Code Kinship Degrees (Articles 963–966)</a:t>
            </a:r>
            <a:br/>
            <a:r>
              <a:t>•  Full Collaborative Federation: Non-destructive multi-branch tree synthesis &amp; live sync</a:t>
            </a:r>
            <a:br/>
            <a:r>
              <a:t>•  Executive Modern Aesthetics: Minimalist Executive Typography &amp; Twin-Pod Island design</a:t>
            </a:r>
            <a:br/>
            <a:br/>
            <a:r>
              <a:t>Thank you! We will now proceed with a live interactive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